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Shape 2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4" name="Shape 2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4" name="Shape 2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9" name="Shape 2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3" name="Shape 2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7" name="Shape 2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1" name="Shape 3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2" name="Shape 3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6" name="Shape 3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0" name="Shape 3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2" name="Shape 3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9" name="Shape 3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8" name="Shape 3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5" name="Shape 4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/>
            </a:r>
          </a:p>
          <a:p>
            <a:pPr/>
            <a:r>
              <a:t/>
            </a:r>
          </a:p>
          <a:p>
            <a:pPr/>
            <a:r>
              <a:t/>
            </a:r>
          </a:p>
          <a:p>
            <a:pPr/>
            <a:r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3243262" y="6795050"/>
            <a:ext cx="9764891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8723">
              <a:defRPr sz="1608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2195688" y="948266"/>
            <a:ext cx="11887202" cy="71195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3245555" y="4690533"/>
            <a:ext cx="9764890" cy="2065868"/>
          </a:xfrm>
          <a:prstGeom prst="rect">
            <a:avLst/>
          </a:prstGeom>
        </p:spPr>
        <p:txBody>
          <a:bodyPr/>
          <a:lstStyle/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3246084" y="2015616"/>
            <a:ext cx="9763833" cy="283103"/>
          </a:xfrm>
          <a:prstGeom prst="rect">
            <a:avLst/>
          </a:prstGeom>
        </p:spPr>
        <p:txBody>
          <a:bodyPr lIns="20319" tIns="20319" rIns="20319" bIns="20319"/>
          <a:lstStyle>
            <a:lvl1pPr defTabSz="368723">
              <a:defRPr sz="1608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3245555" y="6683960"/>
            <a:ext cx="9764890" cy="496423"/>
          </a:xfrm>
          <a:prstGeom prst="rect">
            <a:avLst/>
          </a:prstGeom>
        </p:spPr>
        <p:txBody>
          <a:bodyPr/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sz="half" idx="21"/>
          </p:nvPr>
        </p:nvSpPr>
        <p:spPr>
          <a:xfrm>
            <a:off x="7586133" y="1433688"/>
            <a:ext cx="5397706" cy="62822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3245555" y="2088444"/>
            <a:ext cx="4346223" cy="2614344"/>
          </a:xfrm>
          <a:prstGeom prst="rect">
            <a:avLst/>
          </a:prstGeom>
        </p:spPr>
        <p:txBody>
          <a:bodyPr/>
          <a:lstStyle>
            <a:lvl1pPr>
              <a:defRPr spc="-112" sz="5600"/>
            </a:lvl1pPr>
          </a:lstStyle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3245555" y="4662034"/>
            <a:ext cx="4346223" cy="2393522"/>
          </a:xfrm>
          <a:prstGeom prst="rect">
            <a:avLst/>
          </a:prstGeom>
        </p:spPr>
        <p:txBody>
          <a:bodyPr/>
          <a:lstStyle/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8011560" y="7287459"/>
            <a:ext cx="227325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85233">
              <a:defRPr sz="252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 numCol="2" spcCol="488244"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85233">
              <a:defRPr sz="252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sz="half" idx="22"/>
          </p:nvPr>
        </p:nvSpPr>
        <p:spPr>
          <a:xfrm>
            <a:off x="8128000" y="1342993"/>
            <a:ext cx="4851944" cy="64692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85233">
              <a:defRPr sz="252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85233">
              <a:defRPr sz="252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3245553" y="3539066"/>
            <a:ext cx="9764892" cy="2065868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8011560" y="7287459"/>
            <a:ext cx="227325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3245555" y="2003777"/>
            <a:ext cx="9764890" cy="637756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85233">
              <a:defRPr sz="252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3245555" y="2003777"/>
            <a:ext cx="9764890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85233">
              <a:defRPr sz="252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b="0" spc="-36"/>
            </a:lvl1pPr>
            <a:lvl2pPr>
              <a:spcBef>
                <a:spcPts val="1200"/>
              </a:spcBef>
              <a:defRPr b="0" spc="-36"/>
            </a:lvl2pPr>
            <a:lvl3pPr>
              <a:spcBef>
                <a:spcPts val="1200"/>
              </a:spcBef>
              <a:defRPr b="0" spc="-36"/>
            </a:lvl3pPr>
            <a:lvl4pPr>
              <a:spcBef>
                <a:spcPts val="1200"/>
              </a:spcBef>
              <a:defRPr b="0" spc="-36"/>
            </a:lvl4pPr>
            <a:lvl5pPr>
              <a:spcBef>
                <a:spcPts val="1200"/>
              </a:spcBef>
              <a:defRPr b="0" spc="-36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quarter" idx="1" hasCustomPrompt="1"/>
          </p:nvPr>
        </p:nvSpPr>
        <p:spPr>
          <a:xfrm>
            <a:off x="3245555" y="3711041"/>
            <a:ext cx="9764890" cy="1721918"/>
          </a:xfrm>
          <a:prstGeom prst="rect">
            <a:avLst/>
          </a:prstGeom>
        </p:spPr>
        <p:txBody>
          <a:bodyPr anchor="ctr"/>
          <a:lstStyle>
            <a:lvl1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3245555" y="2002189"/>
            <a:ext cx="9764890" cy="3218483"/>
          </a:xfrm>
          <a:prstGeom prst="rect">
            <a:avLst/>
          </a:prstGeom>
        </p:spPr>
        <p:txBody>
          <a:bodyPr anchor="b"/>
          <a:lstStyle>
            <a:lvl1pPr algn="ctr" defTabSz="1625559">
              <a:lnSpc>
                <a:spcPct val="80000"/>
              </a:lnSpc>
              <a:defRPr spc="-166" sz="16600"/>
            </a:lvl1pPr>
            <a:lvl2pPr algn="ctr" defTabSz="1625559">
              <a:lnSpc>
                <a:spcPct val="80000"/>
              </a:lnSpc>
              <a:defRPr spc="-166" sz="16600"/>
            </a:lvl2pPr>
            <a:lvl3pPr algn="ctr" defTabSz="1625559">
              <a:lnSpc>
                <a:spcPct val="80000"/>
              </a:lnSpc>
              <a:defRPr spc="-166" sz="16600"/>
            </a:lvl3pPr>
            <a:lvl4pPr algn="ctr" defTabSz="1625559">
              <a:lnSpc>
                <a:spcPct val="80000"/>
              </a:lnSpc>
              <a:defRPr spc="-166" sz="16600"/>
            </a:lvl4pPr>
            <a:lvl5pPr algn="ctr" defTabSz="1625559">
              <a:lnSpc>
                <a:spcPct val="80000"/>
              </a:lnSpc>
              <a:defRPr spc="-166" sz="16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3245555" y="5196080"/>
            <a:ext cx="9764890" cy="415458"/>
          </a:xfrm>
          <a:prstGeom prst="rect">
            <a:avLst/>
          </a:prstGeom>
        </p:spPr>
        <p:txBody>
          <a:bodyPr lIns="20319" tIns="20319" rIns="20319" bIns="20319"/>
          <a:lstStyle>
            <a:lvl1pPr algn="ctr" defTabSz="385233">
              <a:defRPr sz="252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3789344" y="6268646"/>
            <a:ext cx="8977802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8723">
              <a:defRPr sz="1608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3488854" y="3719493"/>
            <a:ext cx="9278292" cy="1705014"/>
          </a:xfrm>
          <a:prstGeom prst="rect">
            <a:avLst/>
          </a:prstGeom>
        </p:spPr>
        <p:txBody>
          <a:bodyPr/>
          <a:lstStyle>
            <a:lvl1pPr marL="425948" indent="-313266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25948" indent="1439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25948" indent="6011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25948" indent="10583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25948" indent="15155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8011560" y="7285577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9714088" y="1975555"/>
            <a:ext cx="3306268" cy="26443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quarter" idx="22"/>
          </p:nvPr>
        </p:nvSpPr>
        <p:spPr>
          <a:xfrm>
            <a:off x="8709377" y="3292122"/>
            <a:ext cx="4639735" cy="54000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sz="half" idx="23"/>
          </p:nvPr>
        </p:nvSpPr>
        <p:spPr>
          <a:xfrm>
            <a:off x="2647244" y="1744133"/>
            <a:ext cx="7382934" cy="5537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8011560" y="7285577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2116666" y="-931334"/>
            <a:ext cx="12022669" cy="96181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8011560" y="7285577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"/>
          <p:cNvSpPr txBox="1"/>
          <p:nvPr>
            <p:ph type="title" hasCustomPrompt="1"/>
          </p:nvPr>
        </p:nvSpPr>
        <p:spPr>
          <a:xfrm>
            <a:off x="3245553" y="2668440"/>
            <a:ext cx="9764892" cy="206586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b">
            <a:normAutofit fontScale="100000" lnSpcReduction="0"/>
          </a:bodyPr>
          <a:lstStyle/>
          <a:p>
            <a:pPr/>
            <a:r>
              <a:t>Presentation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243263" y="4734307"/>
            <a:ext cx="9764890" cy="84666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>
            <a:normAutofit fontScale="100000" lnSpcReduction="0"/>
          </a:bodyPr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011560" y="7285577"/>
            <a:ext cx="227325" cy="218689"/>
          </a:xfrm>
          <a:prstGeom prst="rect">
            <a:avLst/>
          </a:prstGeom>
          <a:ln w="3175">
            <a:miter lim="400000"/>
          </a:ln>
        </p:spPr>
        <p:txBody>
          <a:bodyPr wrap="none" lIns="22577" tIns="22577" rIns="22577" bIns="22577" anchor="b">
            <a:spAutoFit/>
          </a:bodyPr>
          <a:lstStyle>
            <a:lvl1pPr algn="ctr" defTabSz="389466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
</file>

<file path=ppt/slides/slide1.xml><?xml version="1.0" encoding="utf-8"?>
<p:sld xmlns:a="http://schemas.openxmlformats.org/drawingml/2006/main" xmlns:ma14="http://schemas.microsoft.com/office/mac/drawingml/2011/main" xmlns:p="http://schemas.openxmlformats.org/presentationml/2006/main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172" name="01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01</a:t>
            </a:r>
          </a:p>
        </p:txBody>
      </p:sp>
      <p:sp>
        <p:nvSpPr>
          <p:cNvPr id="173" name="DEVOPS FINAL CAPSTONE"/>
          <p:cNvSpPr txBox="1"/>
          <p:nvPr/>
        </p:nvSpPr>
        <p:spPr>
          <a:xfrm>
            <a:off x="914400" y="1270000"/>
            <a:ext cx="13335000" cy="381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7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DEVOPS FINAL CAPSTONE</a:t>
            </a:r>
          </a:p>
        </p:txBody>
      </p:sp>
      <p:sp>
        <p:nvSpPr>
          <p:cNvPr id="174" name="TeamDesk"/>
          <p:cNvSpPr txBox="1"/>
          <p:nvPr/>
        </p:nvSpPr>
        <p:spPr>
          <a:xfrm>
            <a:off x="863600" y="2654300"/>
            <a:ext cx="13970000" cy="158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94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175" name="An employee directory on AWS EKS"/>
          <p:cNvSpPr txBox="1"/>
          <p:nvPr/>
        </p:nvSpPr>
        <p:spPr>
          <a:xfrm>
            <a:off x="965200" y="4635500"/>
            <a:ext cx="13716000" cy="6604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3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An employee directory on AWS EKS</a:t>
            </a:r>
          </a:p>
        </p:txBody>
      </p:sp>
      <p:sp>
        <p:nvSpPr>
          <p:cNvPr id="176" name="Suhani Awasthi"/>
          <p:cNvSpPr txBox="1"/>
          <p:nvPr/>
        </p:nvSpPr>
        <p:spPr>
          <a:xfrm>
            <a:off x="965200" y="6705600"/>
            <a:ext cx="10160000" cy="5334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4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Suhani Awasthi</a:t>
            </a:r>
          </a:p>
        </p:txBody>
      </p:sp>
      <p:sp>
        <p:nvSpPr>
          <p:cNvPr id="177" name="16 October 2026"/>
          <p:cNvSpPr txBox="1"/>
          <p:nvPr/>
        </p:nvSpPr>
        <p:spPr>
          <a:xfrm>
            <a:off x="965200" y="7277100"/>
            <a:ext cx="10160000" cy="419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16 October 2026</a:t>
            </a:r>
          </a:p>
        </p:txBody>
      </p:sp>
    </p:spTree>
  </p:cSld>
  <p:clrMapOvr>
    <a:masterClrMapping/>
  </p:clrMapOvr>
  <p:transition spd="med" advClick="1"/>
</p:sld>
</file>

<file path=ppt/slides/slide2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M1  APPLICATION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M1  APPLICATION</a:t>
            </a:r>
          </a:p>
        </p:txBody>
      </p:sp>
      <p:sp>
        <p:nvSpPr>
          <p:cNvPr id="182" name="The employee directory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The employee directory</a:t>
            </a:r>
          </a:p>
        </p:txBody>
      </p:sp>
      <p:sp>
        <p:nvSpPr>
          <p:cNvPr id="183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184" name="02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02</a:t>
            </a:r>
          </a:p>
        </p:txBody>
      </p:sp>
      <p:sp>
        <p:nvSpPr>
          <p:cNvPr id="185" name="People in one place"/>
          <p:cNvSpPr txBox="1"/>
          <p:nvPr/>
        </p:nvSpPr>
        <p:spPr>
          <a:xfrm>
            <a:off x="711200" y="2286000"/>
            <a:ext cx="33655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People in one place</a:t>
            </a:r>
          </a:p>
        </p:txBody>
      </p:sp>
      <p:sp>
        <p:nvSpPr>
          <p:cNvPr id="186" name="Names, emails, roles, departments and joining dates."/>
          <p:cNvSpPr txBox="1"/>
          <p:nvPr/>
        </p:nvSpPr>
        <p:spPr>
          <a:xfrm>
            <a:off x="711200" y="2844800"/>
            <a:ext cx="33655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Names, emails, roles, departments and joining dates.</a:t>
            </a:r>
          </a:p>
        </p:txBody>
      </p:sp>
      <p:sp>
        <p:nvSpPr>
          <p:cNvPr id="187" name="Everyday actions"/>
          <p:cNvSpPr txBox="1"/>
          <p:nvPr/>
        </p:nvSpPr>
        <p:spPr>
          <a:xfrm>
            <a:off x="711200" y="4102100"/>
            <a:ext cx="33655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Everyday actions</a:t>
            </a:r>
          </a:p>
        </p:txBody>
      </p:sp>
      <p:sp>
        <p:nvSpPr>
          <p:cNvPr id="188" name="Add, edit and remove employees. Search and filter the directory."/>
          <p:cNvSpPr txBox="1"/>
          <p:nvPr/>
        </p:nvSpPr>
        <p:spPr>
          <a:xfrm>
            <a:off x="711200" y="4660900"/>
            <a:ext cx="33655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Add, edit and remove employees. Search and filter the directory.</a:t>
            </a:r>
          </a:p>
        </p:txBody>
      </p:sp>
      <p:sp>
        <p:nvSpPr>
          <p:cNvPr id="189" name="Application stack"/>
          <p:cNvSpPr txBox="1"/>
          <p:nvPr/>
        </p:nvSpPr>
        <p:spPr>
          <a:xfrm>
            <a:off x="711200" y="5918200"/>
            <a:ext cx="33655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Application stack</a:t>
            </a:r>
          </a:p>
        </p:txBody>
      </p:sp>
      <p:sp>
        <p:nvSpPr>
          <p:cNvPr id="190" name="React and Nginx…"/>
          <p:cNvSpPr txBox="1"/>
          <p:nvPr/>
        </p:nvSpPr>
        <p:spPr>
          <a:xfrm>
            <a:off x="711200" y="6477000"/>
            <a:ext cx="33655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React and Nginx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FastAPI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PostgreSQL 17</a:t>
            </a:r>
          </a:p>
        </p:txBody>
      </p:sp>
      <p:pic>
        <p:nvPicPr>
          <p:cNvPr id="191" name="M8-application.png" descr="M8-applicatio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67300" y="1905000"/>
            <a:ext cx="9861763" cy="64135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 advClick="1"/>
</p:sld>
</file>

<file path=ppt/slides/slide3.xml><?xml version="1.0" encoding="utf-8"?>
<p:sld xmlns:a="http://schemas.openxmlformats.org/drawingml/2006/main" xmlns:ma14="http://schemas.microsoft.com/office/mac/drawingml/2011/main" xmlns:p="http://schemas.openxmlformats.org/presentationml/2006/main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M1  APPLICATION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M1  APPLICATION</a:t>
            </a:r>
          </a:p>
        </p:txBody>
      </p:sp>
      <p:sp>
        <p:nvSpPr>
          <p:cNvPr id="196" name="API and database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API and database</a:t>
            </a:r>
          </a:p>
        </p:txBody>
      </p:sp>
      <p:sp>
        <p:nvSpPr>
          <p:cNvPr id="197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198" name="03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03</a:t>
            </a:r>
          </a:p>
        </p:txBody>
      </p:sp>
      <p:sp>
        <p:nvSpPr>
          <p:cNvPr id="199" name="Employee endpoints"/>
          <p:cNvSpPr txBox="1"/>
          <p:nvPr/>
        </p:nvSpPr>
        <p:spPr>
          <a:xfrm>
            <a:off x="711200" y="2171700"/>
            <a:ext cx="9525000" cy="508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6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Employee endpoints</a:t>
            </a:r>
          </a:p>
        </p:txBody>
      </p:sp>
      <p:sp>
        <p:nvSpPr>
          <p:cNvPr id="200" name="GET"/>
          <p:cNvSpPr txBox="1"/>
          <p:nvPr/>
        </p:nvSpPr>
        <p:spPr>
          <a:xfrm>
            <a:off x="711200" y="2984500"/>
            <a:ext cx="1524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1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GET</a:t>
            </a:r>
          </a:p>
        </p:txBody>
      </p:sp>
      <p:sp>
        <p:nvSpPr>
          <p:cNvPr id="201" name="/api/employees"/>
          <p:cNvSpPr txBox="1"/>
          <p:nvPr/>
        </p:nvSpPr>
        <p:spPr>
          <a:xfrm>
            <a:off x="2286000" y="2984500"/>
            <a:ext cx="4826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/api/employees</a:t>
            </a:r>
          </a:p>
        </p:txBody>
      </p:sp>
      <p:sp>
        <p:nvSpPr>
          <p:cNvPr id="202" name="List employees"/>
          <p:cNvSpPr txBox="1"/>
          <p:nvPr/>
        </p:nvSpPr>
        <p:spPr>
          <a:xfrm>
            <a:off x="7302500" y="2984500"/>
            <a:ext cx="3175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List employees</a:t>
            </a:r>
          </a:p>
        </p:txBody>
      </p:sp>
      <p:sp>
        <p:nvSpPr>
          <p:cNvPr id="203" name="GET"/>
          <p:cNvSpPr txBox="1"/>
          <p:nvPr/>
        </p:nvSpPr>
        <p:spPr>
          <a:xfrm>
            <a:off x="711200" y="3797300"/>
            <a:ext cx="1524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1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GET</a:t>
            </a:r>
          </a:p>
        </p:txBody>
      </p:sp>
      <p:sp>
        <p:nvSpPr>
          <p:cNvPr id="204" name="/api/employees/{id}"/>
          <p:cNvSpPr txBox="1"/>
          <p:nvPr/>
        </p:nvSpPr>
        <p:spPr>
          <a:xfrm>
            <a:off x="2286000" y="3797300"/>
            <a:ext cx="4826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/api/employees/{id}</a:t>
            </a:r>
          </a:p>
        </p:txBody>
      </p:sp>
      <p:sp>
        <p:nvSpPr>
          <p:cNvPr id="205" name="Read one record"/>
          <p:cNvSpPr txBox="1"/>
          <p:nvPr/>
        </p:nvSpPr>
        <p:spPr>
          <a:xfrm>
            <a:off x="7302500" y="3797300"/>
            <a:ext cx="3175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Read one record</a:t>
            </a:r>
          </a:p>
        </p:txBody>
      </p:sp>
      <p:sp>
        <p:nvSpPr>
          <p:cNvPr id="206" name="POST"/>
          <p:cNvSpPr txBox="1"/>
          <p:nvPr/>
        </p:nvSpPr>
        <p:spPr>
          <a:xfrm>
            <a:off x="711200" y="4610100"/>
            <a:ext cx="1524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1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POST</a:t>
            </a:r>
          </a:p>
        </p:txBody>
      </p:sp>
      <p:sp>
        <p:nvSpPr>
          <p:cNvPr id="207" name="/api/employees"/>
          <p:cNvSpPr txBox="1"/>
          <p:nvPr/>
        </p:nvSpPr>
        <p:spPr>
          <a:xfrm>
            <a:off x="2286000" y="4610100"/>
            <a:ext cx="4826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/api/employees</a:t>
            </a:r>
          </a:p>
        </p:txBody>
      </p:sp>
      <p:sp>
        <p:nvSpPr>
          <p:cNvPr id="208" name="Create a record"/>
          <p:cNvSpPr txBox="1"/>
          <p:nvPr/>
        </p:nvSpPr>
        <p:spPr>
          <a:xfrm>
            <a:off x="7302500" y="4610100"/>
            <a:ext cx="3175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Create a record</a:t>
            </a:r>
          </a:p>
        </p:txBody>
      </p:sp>
      <p:sp>
        <p:nvSpPr>
          <p:cNvPr id="209" name="PUT"/>
          <p:cNvSpPr txBox="1"/>
          <p:nvPr/>
        </p:nvSpPr>
        <p:spPr>
          <a:xfrm>
            <a:off x="711200" y="5422900"/>
            <a:ext cx="1524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1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PUT</a:t>
            </a:r>
          </a:p>
        </p:txBody>
      </p:sp>
      <p:sp>
        <p:nvSpPr>
          <p:cNvPr id="210" name="/api/employees/{id}"/>
          <p:cNvSpPr txBox="1"/>
          <p:nvPr/>
        </p:nvSpPr>
        <p:spPr>
          <a:xfrm>
            <a:off x="2286000" y="5422900"/>
            <a:ext cx="4826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/api/employees/{id}</a:t>
            </a:r>
          </a:p>
        </p:txBody>
      </p:sp>
      <p:sp>
        <p:nvSpPr>
          <p:cNvPr id="211" name="Update a record"/>
          <p:cNvSpPr txBox="1"/>
          <p:nvPr/>
        </p:nvSpPr>
        <p:spPr>
          <a:xfrm>
            <a:off x="7302500" y="5422900"/>
            <a:ext cx="3175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Update a record</a:t>
            </a:r>
          </a:p>
        </p:txBody>
      </p:sp>
      <p:sp>
        <p:nvSpPr>
          <p:cNvPr id="212" name="DELETE"/>
          <p:cNvSpPr txBox="1"/>
          <p:nvPr/>
        </p:nvSpPr>
        <p:spPr>
          <a:xfrm>
            <a:off x="711200" y="6235700"/>
            <a:ext cx="1524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1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DELETE</a:t>
            </a:r>
          </a:p>
        </p:txBody>
      </p:sp>
      <p:sp>
        <p:nvSpPr>
          <p:cNvPr id="213" name="/api/employees/{id}"/>
          <p:cNvSpPr txBox="1"/>
          <p:nvPr/>
        </p:nvSpPr>
        <p:spPr>
          <a:xfrm>
            <a:off x="2286000" y="6235700"/>
            <a:ext cx="4826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/api/employees/{id}</a:t>
            </a:r>
          </a:p>
        </p:txBody>
      </p:sp>
      <p:sp>
        <p:nvSpPr>
          <p:cNvPr id="214" name="Remove a record"/>
          <p:cNvSpPr txBox="1"/>
          <p:nvPr/>
        </p:nvSpPr>
        <p:spPr>
          <a:xfrm>
            <a:off x="7302500" y="6235700"/>
            <a:ext cx="3175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Remove a record</a:t>
            </a:r>
          </a:p>
        </p:txBody>
      </p:sp>
      <p:sp>
        <p:nvSpPr>
          <p:cNvPr id="215" name="Data integrity"/>
          <p:cNvSpPr txBox="1"/>
          <p:nvPr/>
        </p:nvSpPr>
        <p:spPr>
          <a:xfrm>
            <a:off x="11557000" y="2260600"/>
            <a:ext cx="3937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Data integrity</a:t>
            </a:r>
          </a:p>
        </p:txBody>
      </p:sp>
      <p:sp>
        <p:nvSpPr>
          <p:cNvPr id="216" name="Alembic migrations…"/>
          <p:cNvSpPr txBox="1"/>
          <p:nvPr/>
        </p:nvSpPr>
        <p:spPr>
          <a:xfrm>
            <a:off x="11557000" y="2819400"/>
            <a:ext cx="3937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Alembic migrations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Unique email addresses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Input validation</a:t>
            </a:r>
          </a:p>
        </p:txBody>
      </p:sp>
      <p:sp>
        <p:nvSpPr>
          <p:cNvPr id="217" name="Operational checks"/>
          <p:cNvSpPr txBox="1"/>
          <p:nvPr/>
        </p:nvSpPr>
        <p:spPr>
          <a:xfrm>
            <a:off x="11557000" y="5029200"/>
            <a:ext cx="3937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Operational checks</a:t>
            </a:r>
          </a:p>
        </p:txBody>
      </p:sp>
      <p:sp>
        <p:nvSpPr>
          <p:cNvPr id="218" name="/health for liveness…"/>
          <p:cNvSpPr txBox="1"/>
          <p:nvPr/>
        </p:nvSpPr>
        <p:spPr>
          <a:xfrm>
            <a:off x="11557000" y="5588000"/>
            <a:ext cx="3937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/health for liveness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/ready for database access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/metrics for monitoring</a:t>
            </a:r>
          </a:p>
        </p:txBody>
      </p:sp>
    </p:spTree>
  </p:cSld>
  <p:clrMapOvr>
    <a:masterClrMapping/>
  </p:clrMapOvr>
  <p:transition spd="med" advClick="1"/>
</p:sld>
</file>

<file path=ppt/slides/slide4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M2  TESTING AND CODE QUALITY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M2  TESTING AND CODE QUALITY</a:t>
            </a:r>
          </a:p>
        </p:txBody>
      </p:sp>
      <p:sp>
        <p:nvSpPr>
          <p:cNvPr id="223" name="20 API tests pass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20 API tests pass</a:t>
            </a:r>
          </a:p>
        </p:txBody>
      </p:sp>
      <p:sp>
        <p:nvSpPr>
          <p:cNvPr id="224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225" name="04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04</a:t>
            </a:r>
          </a:p>
        </p:txBody>
      </p:sp>
      <p:sp>
        <p:nvSpPr>
          <p:cNvPr id="226" name="20 test cases"/>
          <p:cNvSpPr txBox="1"/>
          <p:nvPr/>
        </p:nvSpPr>
        <p:spPr>
          <a:xfrm>
            <a:off x="711200" y="2286000"/>
            <a:ext cx="3429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20 test cases</a:t>
            </a:r>
          </a:p>
        </p:txBody>
      </p:sp>
      <p:sp>
        <p:nvSpPr>
          <p:cNvPr id="227" name="CRUD, validation, health, readiness and metrics."/>
          <p:cNvSpPr txBox="1"/>
          <p:nvPr/>
        </p:nvSpPr>
        <p:spPr>
          <a:xfrm>
            <a:off x="711200" y="2844800"/>
            <a:ext cx="3429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CRUD, validation, health, readiness and metrics.</a:t>
            </a:r>
          </a:p>
        </p:txBody>
      </p:sp>
      <p:sp>
        <p:nvSpPr>
          <p:cNvPr id="228" name="Isolated database"/>
          <p:cNvSpPr txBox="1"/>
          <p:nvPr/>
        </p:nvSpPr>
        <p:spPr>
          <a:xfrm>
            <a:off x="711200" y="4051300"/>
            <a:ext cx="3429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Isolated database</a:t>
            </a:r>
          </a:p>
        </p:txBody>
      </p:sp>
      <p:sp>
        <p:nvSpPr>
          <p:cNvPr id="229" name="Separate PostgreSQL test database with transaction rollback."/>
          <p:cNvSpPr txBox="1"/>
          <p:nvPr/>
        </p:nvSpPr>
        <p:spPr>
          <a:xfrm>
            <a:off x="711200" y="4610100"/>
            <a:ext cx="3429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Separate PostgreSQL test database with transaction rollback.</a:t>
            </a:r>
          </a:p>
        </p:txBody>
      </p:sp>
      <p:sp>
        <p:nvSpPr>
          <p:cNvPr id="230" name="Quality gate"/>
          <p:cNvSpPr txBox="1"/>
          <p:nvPr/>
        </p:nvSpPr>
        <p:spPr>
          <a:xfrm>
            <a:off x="711200" y="5816600"/>
            <a:ext cx="3429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Quality gate</a:t>
            </a:r>
          </a:p>
        </p:txBody>
      </p:sp>
      <p:sp>
        <p:nvSpPr>
          <p:cNvPr id="231" name="Pytest and Ruff run before container builds."/>
          <p:cNvSpPr txBox="1"/>
          <p:nvPr/>
        </p:nvSpPr>
        <p:spPr>
          <a:xfrm>
            <a:off x="711200" y="6375400"/>
            <a:ext cx="3429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Pytest and Ruff run before container builds.</a:t>
            </a:r>
          </a:p>
        </p:txBody>
      </p:sp>
      <p:pic>
        <p:nvPicPr>
          <p:cNvPr id="232" name="M2-pytest.png" descr="M2-pytest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03800" y="2006600"/>
            <a:ext cx="10068966" cy="62865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 advClick="1"/>
</p:sld>
</file>

<file path=ppt/slides/slide5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M3  GIT AND GITHUB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M3  GIT AND GITHUB</a:t>
            </a:r>
          </a:p>
        </p:txBody>
      </p:sp>
      <p:sp>
        <p:nvSpPr>
          <p:cNvPr id="237" name="A traceable Git history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 traceable Git history</a:t>
            </a:r>
          </a:p>
        </p:txBody>
      </p:sp>
      <p:sp>
        <p:nvSpPr>
          <p:cNvPr id="238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239" name="05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05</a:t>
            </a:r>
          </a:p>
        </p:txBody>
      </p:sp>
      <p:sp>
        <p:nvSpPr>
          <p:cNvPr id="240" name="15 meaningful commits"/>
          <p:cNvSpPr txBox="1"/>
          <p:nvPr/>
        </p:nvSpPr>
        <p:spPr>
          <a:xfrm>
            <a:off x="711200" y="2133600"/>
            <a:ext cx="13970000" cy="508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7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15 meaningful commits</a:t>
            </a:r>
          </a:p>
        </p:txBody>
      </p:sp>
      <p:pic>
        <p:nvPicPr>
          <p:cNvPr id="241" name="commits.png" descr="commit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92400" y="2895599"/>
            <a:ext cx="10868977" cy="4508501"/>
          </a:xfrm>
          <a:prstGeom prst="rect">
            <a:avLst/>
          </a:prstGeom>
          <a:ln w="3175">
            <a:miter lim="400000"/>
          </a:ln>
        </p:spPr>
      </p:pic>
      <p:sp>
        <p:nvSpPr>
          <p:cNvPr id="242" name="Public repository: github.com/suhaniawasthi10/TeamDesk-"/>
          <p:cNvSpPr txBox="1"/>
          <p:nvPr/>
        </p:nvSpPr>
        <p:spPr>
          <a:xfrm>
            <a:off x="711200" y="7708900"/>
            <a:ext cx="14605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2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Public repository: github.com/suhaniawasthi10/TeamDesk-</a:t>
            </a:r>
          </a:p>
        </p:txBody>
      </p:sp>
    </p:spTree>
  </p:cSld>
  <p:clrMapOvr>
    <a:masterClrMapping/>
  </p:clrMapOvr>
  <p:transition spd="med" advClick="1"/>
</p:sld>
</file>

<file path=ppt/slides/slide6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M4  DOCKER AND COMPOSE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M4  DOCKER AND COMPOSE</a:t>
            </a:r>
          </a:p>
        </p:txBody>
      </p:sp>
      <p:sp>
        <p:nvSpPr>
          <p:cNvPr id="247" name="One command runs the stack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One command runs the stack</a:t>
            </a:r>
          </a:p>
        </p:txBody>
      </p:sp>
      <p:sp>
        <p:nvSpPr>
          <p:cNvPr id="248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249" name="06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06</a:t>
            </a:r>
          </a:p>
        </p:txBody>
      </p:sp>
      <p:sp>
        <p:nvSpPr>
          <p:cNvPr id="250" name="Three services"/>
          <p:cNvSpPr txBox="1"/>
          <p:nvPr/>
        </p:nvSpPr>
        <p:spPr>
          <a:xfrm>
            <a:off x="711200" y="2286000"/>
            <a:ext cx="35814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Three services</a:t>
            </a:r>
          </a:p>
        </p:txBody>
      </p:sp>
      <p:sp>
        <p:nvSpPr>
          <p:cNvPr id="251" name="Frontend, backend and PostgreSQL start together."/>
          <p:cNvSpPr txBox="1"/>
          <p:nvPr/>
        </p:nvSpPr>
        <p:spPr>
          <a:xfrm>
            <a:off x="711200" y="2844800"/>
            <a:ext cx="35814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Frontend, backend and PostgreSQL start together.</a:t>
            </a:r>
          </a:p>
        </p:txBody>
      </p:sp>
      <p:sp>
        <p:nvSpPr>
          <p:cNvPr id="252" name="Non-root runtime"/>
          <p:cNvSpPr txBox="1"/>
          <p:nvPr/>
        </p:nvSpPr>
        <p:spPr>
          <a:xfrm>
            <a:off x="711200" y="4051300"/>
            <a:ext cx="35814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Non-root runtime</a:t>
            </a:r>
          </a:p>
        </p:txBody>
      </p:sp>
      <p:sp>
        <p:nvSpPr>
          <p:cNvPr id="253" name="Backend UID 10001…"/>
          <p:cNvSpPr txBox="1"/>
          <p:nvPr/>
        </p:nvSpPr>
        <p:spPr>
          <a:xfrm>
            <a:off x="711200" y="4610100"/>
            <a:ext cx="35814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Backend UID 10001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Frontend UID 101</a:t>
            </a:r>
          </a:p>
        </p:txBody>
      </p:sp>
      <p:sp>
        <p:nvSpPr>
          <p:cNvPr id="254" name="Frontend image"/>
          <p:cNvSpPr txBox="1"/>
          <p:nvPr/>
        </p:nvSpPr>
        <p:spPr>
          <a:xfrm>
            <a:off x="711200" y="5816600"/>
            <a:ext cx="35814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Frontend image</a:t>
            </a:r>
          </a:p>
        </p:txBody>
      </p:sp>
      <p:sp>
        <p:nvSpPr>
          <p:cNvPr id="255" name="Node build stage with an Nginx runtime."/>
          <p:cNvSpPr txBox="1"/>
          <p:nvPr/>
        </p:nvSpPr>
        <p:spPr>
          <a:xfrm>
            <a:off x="711200" y="6375400"/>
            <a:ext cx="35814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Node build stage with an Nginx runtime.</a:t>
            </a:r>
          </a:p>
        </p:txBody>
      </p:sp>
      <p:pic>
        <p:nvPicPr>
          <p:cNvPr id="256" name="M4-compose.png" descr="M4-compos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13400" y="1943100"/>
            <a:ext cx="8969575" cy="6057900"/>
          </a:xfrm>
          <a:prstGeom prst="rect">
            <a:avLst/>
          </a:prstGeom>
          <a:ln w="3175">
            <a:miter lim="400000"/>
          </a:ln>
        </p:spPr>
      </p:pic>
      <p:sp>
        <p:nvSpPr>
          <p:cNvPr id="257" name="docker compose up --build"/>
          <p:cNvSpPr txBox="1"/>
          <p:nvPr/>
        </p:nvSpPr>
        <p:spPr>
          <a:xfrm>
            <a:off x="4953000" y="8001000"/>
            <a:ext cx="10160000" cy="3937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2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docker compose up --build</a:t>
            </a:r>
          </a:p>
        </p:txBody>
      </p:sp>
    </p:spTree>
  </p:cSld>
  <p:clrMapOvr>
    <a:masterClrMapping/>
  </p:clrMapOvr>
  <p:transition spd="med" advClick="1"/>
</p:sld>
</file>

<file path=ppt/slides/slide7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M5 AND M10  CI/CD AND DEPLOYMENT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M5 AND M10  CI/CD AND DEPLOYMENT</a:t>
            </a:r>
          </a:p>
        </p:txBody>
      </p:sp>
      <p:sp>
        <p:nvSpPr>
          <p:cNvPr id="262" name="A push reaches EKS automatically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 push reaches EKS automatically</a:t>
            </a:r>
          </a:p>
        </p:txBody>
      </p:sp>
      <p:sp>
        <p:nvSpPr>
          <p:cNvPr id="263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264" name="07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07</a:t>
            </a:r>
          </a:p>
        </p:txBody>
      </p:sp>
      <p:sp>
        <p:nvSpPr>
          <p:cNvPr id="265" name="Four passing jobs"/>
          <p:cNvSpPr txBox="1"/>
          <p:nvPr/>
        </p:nvSpPr>
        <p:spPr>
          <a:xfrm>
            <a:off x="711200" y="2286000"/>
            <a:ext cx="3429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Four passing jobs</a:t>
            </a:r>
          </a:p>
        </p:txBody>
      </p:sp>
      <p:sp>
        <p:nvSpPr>
          <p:cNvPr id="266" name="Tests, frontend build, image publication and EKS deployment."/>
          <p:cNvSpPr txBox="1"/>
          <p:nvPr/>
        </p:nvSpPr>
        <p:spPr>
          <a:xfrm>
            <a:off x="711200" y="2844800"/>
            <a:ext cx="3429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Tests, frontend build, image publication and EKS deployment.</a:t>
            </a:r>
          </a:p>
        </p:txBody>
      </p:sp>
      <p:sp>
        <p:nvSpPr>
          <p:cNvPr id="267" name="SHA image tags"/>
          <p:cNvSpPr txBox="1"/>
          <p:nvPr/>
        </p:nvSpPr>
        <p:spPr>
          <a:xfrm>
            <a:off x="711200" y="4051300"/>
            <a:ext cx="3429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SHA image tags</a:t>
            </a:r>
          </a:p>
        </p:txBody>
      </p:sp>
      <p:sp>
        <p:nvSpPr>
          <p:cNvPr id="268" name="Both GHCR images use the full Git commit SHA."/>
          <p:cNvSpPr txBox="1"/>
          <p:nvPr/>
        </p:nvSpPr>
        <p:spPr>
          <a:xfrm>
            <a:off x="711200" y="4610100"/>
            <a:ext cx="3429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Both GHCR images use the full Git commit SHA.</a:t>
            </a:r>
          </a:p>
        </p:txBody>
      </p:sp>
      <p:sp>
        <p:nvSpPr>
          <p:cNvPr id="269" name="Release verification"/>
          <p:cNvSpPr txBox="1"/>
          <p:nvPr/>
        </p:nvSpPr>
        <p:spPr>
          <a:xfrm>
            <a:off x="711200" y="5816600"/>
            <a:ext cx="3429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Release verification</a:t>
            </a:r>
          </a:p>
        </p:txBody>
      </p:sp>
      <p:sp>
        <p:nvSpPr>
          <p:cNvPr id="270" name="The running API reports the expected commit version."/>
          <p:cNvSpPr txBox="1"/>
          <p:nvPr/>
        </p:nvSpPr>
        <p:spPr>
          <a:xfrm>
            <a:off x="711200" y="6375400"/>
            <a:ext cx="3429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The running API reports the expected commit version.</a:t>
            </a:r>
          </a:p>
        </p:txBody>
      </p:sp>
      <p:pic>
        <p:nvPicPr>
          <p:cNvPr id="271" name="M10-deployment-pipeline.png" descr="M10-deployment-pipelin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67300" y="1917700"/>
            <a:ext cx="9900819" cy="64389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 advClick="1"/>
</p:sld>
</file>

<file path=ppt/slides/slide8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M6  DEVSECOPS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M6  DEVSECOPS</a:t>
            </a:r>
          </a:p>
        </p:txBody>
      </p:sp>
      <p:sp>
        <p:nvSpPr>
          <p:cNvPr id="276" name="Security checks block unsafe images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Security checks block unsafe images</a:t>
            </a:r>
          </a:p>
        </p:txBody>
      </p:sp>
      <p:sp>
        <p:nvSpPr>
          <p:cNvPr id="277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278" name="08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08</a:t>
            </a:r>
          </a:p>
        </p:txBody>
      </p:sp>
      <p:sp>
        <p:nvSpPr>
          <p:cNvPr id="279" name="Both images scanned"/>
          <p:cNvSpPr txBox="1"/>
          <p:nvPr/>
        </p:nvSpPr>
        <p:spPr>
          <a:xfrm>
            <a:off x="711200" y="2286000"/>
            <a:ext cx="35306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Both images scanned</a:t>
            </a:r>
          </a:p>
        </p:txBody>
      </p:sp>
      <p:sp>
        <p:nvSpPr>
          <p:cNvPr id="280" name="Backend and frontend must pass before publication."/>
          <p:cNvSpPr txBox="1"/>
          <p:nvPr/>
        </p:nvSpPr>
        <p:spPr>
          <a:xfrm>
            <a:off x="711200" y="2844800"/>
            <a:ext cx="35306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Backend and frontend must pass before publication.</a:t>
            </a:r>
          </a:p>
        </p:txBody>
      </p:sp>
      <p:sp>
        <p:nvSpPr>
          <p:cNvPr id="281" name="Blocking threshold"/>
          <p:cNvSpPr txBox="1"/>
          <p:nvPr/>
        </p:nvSpPr>
        <p:spPr>
          <a:xfrm>
            <a:off x="711200" y="4051300"/>
            <a:ext cx="35306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Blocking threshold</a:t>
            </a:r>
          </a:p>
        </p:txBody>
      </p:sp>
      <p:sp>
        <p:nvSpPr>
          <p:cNvPr id="282" name="HIGH and CRITICAL findings fail the job."/>
          <p:cNvSpPr txBox="1"/>
          <p:nvPr/>
        </p:nvSpPr>
        <p:spPr>
          <a:xfrm>
            <a:off x="711200" y="4610100"/>
            <a:ext cx="35306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HIGH and CRITICAL findings fail the job.</a:t>
            </a:r>
          </a:p>
        </p:txBody>
      </p:sp>
      <p:sp>
        <p:nvSpPr>
          <p:cNvPr id="283" name="A real remediation"/>
          <p:cNvSpPr txBox="1"/>
          <p:nvPr/>
        </p:nvSpPr>
        <p:spPr>
          <a:xfrm>
            <a:off x="711200" y="5816600"/>
            <a:ext cx="35306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 real remediation</a:t>
            </a:r>
          </a:p>
        </p:txBody>
      </p:sp>
      <p:sp>
        <p:nvSpPr>
          <p:cNvPr id="284" name="Removed vulnerable build tooling from the backend runtime."/>
          <p:cNvSpPr txBox="1"/>
          <p:nvPr/>
        </p:nvSpPr>
        <p:spPr>
          <a:xfrm>
            <a:off x="711200" y="6375400"/>
            <a:ext cx="35306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Removed vulnerable build tooling from the backend runtime.</a:t>
            </a:r>
          </a:p>
        </p:txBody>
      </p:sp>
      <p:pic>
        <p:nvPicPr>
          <p:cNvPr id="285" name="M6-trivy-frontend.png" descr="M6-trivy-frontend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43500" y="1943100"/>
            <a:ext cx="9842235" cy="64008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 advClick="1"/>
</p:sld>
</file>

<file path=ppt/slides/slide9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M7  INFRASTRUCTURE AS CODE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M7  INFRASTRUCTURE AS CODE</a:t>
            </a:r>
          </a:p>
        </p:txBody>
      </p:sp>
      <p:sp>
        <p:nvSpPr>
          <p:cNvPr id="290" name="Terraform provisions the AWS stack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Terraform provisions the AWS stack</a:t>
            </a:r>
          </a:p>
        </p:txBody>
      </p:sp>
      <p:sp>
        <p:nvSpPr>
          <p:cNvPr id="291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292" name="09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09</a:t>
            </a:r>
          </a:p>
        </p:txBody>
      </p:sp>
      <p:sp>
        <p:nvSpPr>
          <p:cNvPr id="293" name="Sydney region"/>
          <p:cNvSpPr txBox="1"/>
          <p:nvPr/>
        </p:nvSpPr>
        <p:spPr>
          <a:xfrm>
            <a:off x="711200" y="2286000"/>
            <a:ext cx="3556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Sydney region</a:t>
            </a:r>
          </a:p>
        </p:txBody>
      </p:sp>
      <p:sp>
        <p:nvSpPr>
          <p:cNvPr id="294" name="ap-southeast-2…"/>
          <p:cNvSpPr txBox="1"/>
          <p:nvPr/>
        </p:nvSpPr>
        <p:spPr>
          <a:xfrm>
            <a:off x="711200" y="2844800"/>
            <a:ext cx="3556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ap-southeast-2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EKS 1.35</a:t>
            </a:r>
          </a:p>
        </p:txBody>
      </p:sp>
      <p:sp>
        <p:nvSpPr>
          <p:cNvPr id="295" name="Network"/>
          <p:cNvSpPr txBox="1"/>
          <p:nvPr/>
        </p:nvSpPr>
        <p:spPr>
          <a:xfrm>
            <a:off x="711200" y="4051300"/>
            <a:ext cx="3556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Network</a:t>
            </a:r>
          </a:p>
        </p:txBody>
      </p:sp>
      <p:sp>
        <p:nvSpPr>
          <p:cNvPr id="296" name="Two public and two private subnets across two zones."/>
          <p:cNvSpPr txBox="1"/>
          <p:nvPr/>
        </p:nvSpPr>
        <p:spPr>
          <a:xfrm>
            <a:off x="711200" y="4610100"/>
            <a:ext cx="3556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Two public and two private subnets across two zones.</a:t>
            </a:r>
          </a:p>
        </p:txBody>
      </p:sp>
      <p:sp>
        <p:nvSpPr>
          <p:cNvPr id="297" name="Worker group"/>
          <p:cNvSpPr txBox="1"/>
          <p:nvPr/>
        </p:nvSpPr>
        <p:spPr>
          <a:xfrm>
            <a:off x="711200" y="5816600"/>
            <a:ext cx="3556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Worker group</a:t>
            </a:r>
          </a:p>
        </p:txBody>
      </p:sp>
      <p:sp>
        <p:nvSpPr>
          <p:cNvPr id="298" name="Two c7i-flex.large nodes in private subnets."/>
          <p:cNvSpPr txBox="1"/>
          <p:nvPr/>
        </p:nvSpPr>
        <p:spPr>
          <a:xfrm>
            <a:off x="711200" y="6375400"/>
            <a:ext cx="3556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Two c7i-flex.large nodes in private subnets.</a:t>
            </a:r>
          </a:p>
        </p:txBody>
      </p:sp>
      <p:pic>
        <p:nvPicPr>
          <p:cNvPr id="299" name="M7-nodes.png" descr="M7-node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56200" y="1943100"/>
            <a:ext cx="9783650" cy="63627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 advClick="1"/>
</p:sld>
</file>

<file path=ppt/slides/slide10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M8  KUBERNETES AND HELM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M8  KUBERNETES AND HELM</a:t>
            </a:r>
          </a:p>
        </p:txBody>
      </p:sp>
      <p:sp>
        <p:nvSpPr>
          <p:cNvPr id="304" name="Helm manages the application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Helm manages the application</a:t>
            </a:r>
          </a:p>
        </p:txBody>
      </p:sp>
      <p:sp>
        <p:nvSpPr>
          <p:cNvPr id="305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306" name="10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10</a:t>
            </a:r>
          </a:p>
        </p:txBody>
      </p:sp>
      <p:pic>
        <p:nvPicPr>
          <p:cNvPr id="307" name="M8-pods.png" descr="M8-pod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1200" y="2057400"/>
            <a:ext cx="14842332" cy="3441700"/>
          </a:xfrm>
          <a:prstGeom prst="rect">
            <a:avLst/>
          </a:prstGeom>
          <a:ln w="3175">
            <a:miter lim="400000"/>
          </a:ln>
        </p:spPr>
      </p:pic>
      <p:pic>
        <p:nvPicPr>
          <p:cNvPr id="308" name="M8-helm.png" descr="M8-hel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1200" y="5842000"/>
            <a:ext cx="14770652" cy="1358900"/>
          </a:xfrm>
          <a:prstGeom prst="rect">
            <a:avLst/>
          </a:prstGeom>
          <a:ln w="3175">
            <a:miter lim="400000"/>
          </a:ln>
        </p:spPr>
      </p:pic>
      <p:sp>
        <p:nvSpPr>
          <p:cNvPr id="309" name="2 backend replicas + 2 frontend replicas"/>
          <p:cNvSpPr txBox="1"/>
          <p:nvPr/>
        </p:nvSpPr>
        <p:spPr>
          <a:xfrm>
            <a:off x="711200" y="7493000"/>
            <a:ext cx="8255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4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2 backend replicas + 2 frontend replicas</a:t>
            </a:r>
          </a:p>
        </p:txBody>
      </p:sp>
      <p:sp>
        <p:nvSpPr>
          <p:cNvPr id="310" name="ClusterIP Services and an ALB Ingress"/>
          <p:cNvSpPr txBox="1"/>
          <p:nvPr/>
        </p:nvSpPr>
        <p:spPr>
          <a:xfrm>
            <a:off x="711200" y="8001000"/>
            <a:ext cx="13970000" cy="368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1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ClusterIP Services and an ALB Ingress</a:t>
            </a:r>
          </a:p>
        </p:txBody>
      </p:sp>
    </p:spTree>
  </p:cSld>
  <p:clrMapOvr>
    <a:masterClrMapping/>
  </p:clrMapOvr>
  <p:transition spd="med" advClick="1"/>
</p:sld>
</file>

<file path=ppt/slides/slide11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M9  OBSERVABILITY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M9  OBSERVABILITY</a:t>
            </a:r>
          </a:p>
        </p:txBody>
      </p:sp>
      <p:sp>
        <p:nvSpPr>
          <p:cNvPr id="315" name="Prometheus scrapes both backends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Prometheus scrapes both backends</a:t>
            </a:r>
          </a:p>
        </p:txBody>
      </p:sp>
      <p:sp>
        <p:nvSpPr>
          <p:cNvPr id="316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317" name="11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11</a:t>
            </a:r>
          </a:p>
        </p:txBody>
      </p:sp>
      <p:sp>
        <p:nvSpPr>
          <p:cNvPr id="318" name="/metrics endpoint"/>
          <p:cNvSpPr txBox="1"/>
          <p:nvPr/>
        </p:nvSpPr>
        <p:spPr>
          <a:xfrm>
            <a:off x="711200" y="2286000"/>
            <a:ext cx="35433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/metrics endpoint</a:t>
            </a:r>
          </a:p>
        </p:txBody>
      </p:sp>
      <p:sp>
        <p:nvSpPr>
          <p:cNvPr id="319" name="HTTP request counts, duration and response status."/>
          <p:cNvSpPr txBox="1"/>
          <p:nvPr/>
        </p:nvSpPr>
        <p:spPr>
          <a:xfrm>
            <a:off x="711200" y="2844800"/>
            <a:ext cx="35433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HTTP request counts, duration and response status.</a:t>
            </a:r>
          </a:p>
        </p:txBody>
      </p:sp>
      <p:sp>
        <p:nvSpPr>
          <p:cNvPr id="320" name="Two healthy targets"/>
          <p:cNvSpPr txBox="1"/>
          <p:nvPr/>
        </p:nvSpPr>
        <p:spPr>
          <a:xfrm>
            <a:off x="711200" y="4051300"/>
            <a:ext cx="35433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Two healthy targets</a:t>
            </a:r>
          </a:p>
        </p:txBody>
      </p:sp>
      <p:sp>
        <p:nvSpPr>
          <p:cNvPr id="321" name="Prometheus discovers and scrapes both backend replicas."/>
          <p:cNvSpPr txBox="1"/>
          <p:nvPr/>
        </p:nvSpPr>
        <p:spPr>
          <a:xfrm>
            <a:off x="711200" y="4610100"/>
            <a:ext cx="35433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Prometheus discovers and scrapes both backend replicas.</a:t>
            </a:r>
          </a:p>
        </p:txBody>
      </p:sp>
      <p:sp>
        <p:nvSpPr>
          <p:cNvPr id="322" name="Private access"/>
          <p:cNvSpPr txBox="1"/>
          <p:nvPr/>
        </p:nvSpPr>
        <p:spPr>
          <a:xfrm>
            <a:off x="711200" y="5816600"/>
            <a:ext cx="35433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Private access</a:t>
            </a:r>
          </a:p>
        </p:txBody>
      </p:sp>
      <p:sp>
        <p:nvSpPr>
          <p:cNvPr id="323" name="Monitoring tools use ClusterIP Services and port forwarding."/>
          <p:cNvSpPr txBox="1"/>
          <p:nvPr/>
        </p:nvSpPr>
        <p:spPr>
          <a:xfrm>
            <a:off x="711200" y="6375400"/>
            <a:ext cx="35433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Monitoring tools use ClusterIP Services and port forwarding.</a:t>
            </a:r>
          </a:p>
        </p:txBody>
      </p:sp>
      <p:pic>
        <p:nvPicPr>
          <p:cNvPr id="324" name="M9-prometheus.png" descr="M9-prometheu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29200" y="1943100"/>
            <a:ext cx="10023357" cy="63754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 advClick="1"/>
</p:sld>
</file>

<file path=ppt/slides/slide12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M9  OBSERVABILITY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M9  OBSERVABILITY</a:t>
            </a:r>
          </a:p>
        </p:txBody>
      </p:sp>
      <p:sp>
        <p:nvSpPr>
          <p:cNvPr id="329" name="Grafana shows application traffic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Grafana shows application traffic</a:t>
            </a:r>
          </a:p>
        </p:txBody>
      </p:sp>
      <p:sp>
        <p:nvSpPr>
          <p:cNvPr id="330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331" name="12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12</a:t>
            </a:r>
          </a:p>
        </p:txBody>
      </p:sp>
      <p:sp>
        <p:nvSpPr>
          <p:cNvPr id="332" name="Six live panels"/>
          <p:cNvSpPr txBox="1"/>
          <p:nvPr/>
        </p:nvSpPr>
        <p:spPr>
          <a:xfrm>
            <a:off x="711200" y="2286000"/>
            <a:ext cx="3429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Six live panels</a:t>
            </a:r>
          </a:p>
        </p:txBody>
      </p:sp>
      <p:sp>
        <p:nvSpPr>
          <p:cNvPr id="333" name="Requests, latency, endpoints, healthy targets and errors."/>
          <p:cNvSpPr txBox="1"/>
          <p:nvPr/>
        </p:nvSpPr>
        <p:spPr>
          <a:xfrm>
            <a:off x="711200" y="2844800"/>
            <a:ext cx="3429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Requests, latency, endpoints, healthy targets and errors.</a:t>
            </a:r>
          </a:p>
        </p:txBody>
      </p:sp>
      <p:sp>
        <p:nvSpPr>
          <p:cNvPr id="334" name="Captured session"/>
          <p:cNvSpPr txBox="1"/>
          <p:nvPr/>
        </p:nvSpPr>
        <p:spPr>
          <a:xfrm>
            <a:off x="711200" y="4051300"/>
            <a:ext cx="3429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Captured session</a:t>
            </a:r>
          </a:p>
        </p:txBody>
      </p:sp>
      <p:sp>
        <p:nvSpPr>
          <p:cNvPr id="335" name="105 requests…"/>
          <p:cNvSpPr txBox="1"/>
          <p:nvPr/>
        </p:nvSpPr>
        <p:spPr>
          <a:xfrm>
            <a:off x="711200" y="4610100"/>
            <a:ext cx="3429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105 requests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 healthy targets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 server errors</a:t>
            </a:r>
          </a:p>
        </p:txBody>
      </p:sp>
      <p:sp>
        <p:nvSpPr>
          <p:cNvPr id="336" name="Dashboard in Git"/>
          <p:cNvSpPr txBox="1"/>
          <p:nvPr/>
        </p:nvSpPr>
        <p:spPr>
          <a:xfrm>
            <a:off x="711200" y="5816600"/>
            <a:ext cx="3429000" cy="4699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Dashboard in Git</a:t>
            </a:r>
          </a:p>
        </p:txBody>
      </p:sp>
      <p:sp>
        <p:nvSpPr>
          <p:cNvPr id="337" name="Dashboard JSON and Helm values live in the repository."/>
          <p:cNvSpPr txBox="1"/>
          <p:nvPr/>
        </p:nvSpPr>
        <p:spPr>
          <a:xfrm>
            <a:off x="711200" y="6375400"/>
            <a:ext cx="3429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0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Dashboard JSON and Helm values live in the repository.</a:t>
            </a:r>
          </a:p>
        </p:txBody>
      </p:sp>
      <p:pic>
        <p:nvPicPr>
          <p:cNvPr id="338" name="M9-grafana.png" descr="M9-grafana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80000" y="1917700"/>
            <a:ext cx="9900819" cy="64389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 advClick="1"/>
</p:sld>
</file>

<file path=ppt/slides/slide13.xml><?xml version="1.0" encoding="utf-8"?>
<p:sld xmlns:a="http://schemas.openxmlformats.org/drawingml/2006/main" xmlns:ma14="http://schemas.microsoft.com/office/mac/drawingml/2011/main" xmlns:p="http://schemas.openxmlformats.org/presentationml/2006/main" xmlns:r="http://schemas.openxmlformats.org/officeDocument/2006/relationships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AUTOSCALING DEMONSTRATION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AUTOSCALING DEMONSTRATION</a:t>
            </a:r>
          </a:p>
        </p:txBody>
      </p:sp>
      <p:sp>
        <p:nvSpPr>
          <p:cNvPr id="343" name="The backend scales with CPU load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The backend scales with CPU load</a:t>
            </a:r>
          </a:p>
        </p:txBody>
      </p:sp>
      <p:sp>
        <p:nvSpPr>
          <p:cNvPr id="344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345" name="13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13</a:t>
            </a:r>
          </a:p>
        </p:txBody>
      </p:sp>
      <p:sp>
        <p:nvSpPr>
          <p:cNvPr id="346" name="21,496"/>
          <p:cNvSpPr txBox="1"/>
          <p:nvPr/>
        </p:nvSpPr>
        <p:spPr>
          <a:xfrm>
            <a:off x="711200" y="2133600"/>
            <a:ext cx="5080000" cy="952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58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21,496</a:t>
            </a:r>
          </a:p>
        </p:txBody>
      </p:sp>
      <p:sp>
        <p:nvSpPr>
          <p:cNvPr id="347" name="successful requests in 180 seconds"/>
          <p:cNvSpPr txBox="1"/>
          <p:nvPr/>
        </p:nvSpPr>
        <p:spPr>
          <a:xfrm>
            <a:off x="711200" y="3136900"/>
            <a:ext cx="8001000" cy="457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4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successful requests in 180 seconds</a:t>
            </a:r>
          </a:p>
        </p:txBody>
      </p:sp>
      <p:sp>
        <p:nvSpPr>
          <p:cNvPr id="348" name="0 errors"/>
          <p:cNvSpPr txBox="1"/>
          <p:nvPr/>
        </p:nvSpPr>
        <p:spPr>
          <a:xfrm>
            <a:off x="10985500" y="2209800"/>
            <a:ext cx="4445000" cy="825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7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 errors</a:t>
            </a:r>
          </a:p>
        </p:txBody>
      </p:sp>
      <p:sp>
        <p:nvSpPr>
          <p:cNvPr id="349" name="2 to 4 replicas, then back to 2"/>
          <p:cNvSpPr txBox="1"/>
          <p:nvPr/>
        </p:nvSpPr>
        <p:spPr>
          <a:xfrm>
            <a:off x="711200" y="3898900"/>
            <a:ext cx="14732000" cy="508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7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2 to 4 replicas, then back to 2</a:t>
            </a:r>
          </a:p>
        </p:txBody>
      </p:sp>
      <p:pic>
        <p:nvPicPr>
          <p:cNvPr id="350" name="HPA-scaling.png" descr="HPA-scalin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48199" y="4660900"/>
            <a:ext cx="6974659" cy="35687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 advClick="1"/>
</p:sld>
</file>

<file path=ppt/slides/slide14.xml><?xml version="1.0" encoding="utf-8"?>
<p:sld xmlns:a="http://schemas.openxmlformats.org/drawingml/2006/main" xmlns:ma14="http://schemas.microsoft.com/office/mac/drawingml/2011/main" xmlns:p="http://schemas.openxmlformats.org/presentationml/2006/main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ROUBLESHOOTING EXERCISES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TROUBLESHOOTING EXERCISES</a:t>
            </a:r>
          </a:p>
        </p:txBody>
      </p:sp>
      <p:sp>
        <p:nvSpPr>
          <p:cNvPr id="355" name="Two failures, diagnosed and repaired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Two failures, diagnosed and repaired</a:t>
            </a:r>
          </a:p>
        </p:txBody>
      </p:sp>
      <p:sp>
        <p:nvSpPr>
          <p:cNvPr id="356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357" name="14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14</a:t>
            </a:r>
          </a:p>
        </p:txBody>
      </p:sp>
      <p:sp>
        <p:nvSpPr>
          <p:cNvPr id="358" name="ImagePullBackOff"/>
          <p:cNvSpPr txBox="1"/>
          <p:nvPr/>
        </p:nvSpPr>
        <p:spPr>
          <a:xfrm>
            <a:off x="711200" y="2324100"/>
            <a:ext cx="7112000" cy="635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31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ImagePullBackOff</a:t>
            </a:r>
          </a:p>
        </p:txBody>
      </p:sp>
      <p:sp>
        <p:nvSpPr>
          <p:cNvPr id="359" name="Cause"/>
          <p:cNvSpPr txBox="1"/>
          <p:nvPr/>
        </p:nvSpPr>
        <p:spPr>
          <a:xfrm>
            <a:off x="711200" y="3416300"/>
            <a:ext cx="2667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3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Cause</a:t>
            </a:r>
          </a:p>
        </p:txBody>
      </p:sp>
      <p:sp>
        <p:nvSpPr>
          <p:cNvPr id="360" name="The image tag did not exist in GHCR."/>
          <p:cNvSpPr txBox="1"/>
          <p:nvPr/>
        </p:nvSpPr>
        <p:spPr>
          <a:xfrm>
            <a:off x="711200" y="3937000"/>
            <a:ext cx="6731000" cy="9906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5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The image tag did not exist in GHCR.</a:t>
            </a:r>
          </a:p>
        </p:txBody>
      </p:sp>
      <p:sp>
        <p:nvSpPr>
          <p:cNvPr id="361" name="Repair and verification"/>
          <p:cNvSpPr txBox="1"/>
          <p:nvPr/>
        </p:nvSpPr>
        <p:spPr>
          <a:xfrm>
            <a:off x="711200" y="5270500"/>
            <a:ext cx="6858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3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Repair and verification</a:t>
            </a:r>
          </a:p>
        </p:txBody>
      </p:sp>
      <p:sp>
        <p:nvSpPr>
          <p:cNvPr id="362" name="Use a published SHA tag.…"/>
          <p:cNvSpPr txBox="1"/>
          <p:nvPr/>
        </p:nvSpPr>
        <p:spPr>
          <a:xfrm>
            <a:off x="711200" y="5854700"/>
            <a:ext cx="6794500" cy="158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Use a published SHA tag.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rollout succeeds and the pod is Ready.</a:t>
            </a:r>
          </a:p>
        </p:txBody>
      </p:sp>
      <p:sp>
        <p:nvSpPr>
          <p:cNvPr id="363" name="Service selector mismatch"/>
          <p:cNvSpPr txBox="1"/>
          <p:nvPr/>
        </p:nvSpPr>
        <p:spPr>
          <a:xfrm>
            <a:off x="8572500" y="2324100"/>
            <a:ext cx="6985000" cy="635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31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Service selector mismatch</a:t>
            </a:r>
          </a:p>
        </p:txBody>
      </p:sp>
      <p:sp>
        <p:nvSpPr>
          <p:cNvPr id="364" name="Cause"/>
          <p:cNvSpPr txBox="1"/>
          <p:nvPr/>
        </p:nvSpPr>
        <p:spPr>
          <a:xfrm>
            <a:off x="8572500" y="3416300"/>
            <a:ext cx="6350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3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Cause</a:t>
            </a:r>
          </a:p>
        </p:txBody>
      </p:sp>
      <p:sp>
        <p:nvSpPr>
          <p:cNvPr id="365" name="The selector matched no pods, so the Service had no endpoints."/>
          <p:cNvSpPr txBox="1"/>
          <p:nvPr/>
        </p:nvSpPr>
        <p:spPr>
          <a:xfrm>
            <a:off x="8572500" y="3937000"/>
            <a:ext cx="6858000" cy="1143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5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The selector matched no pods, so the Service had no endpoints.</a:t>
            </a:r>
          </a:p>
        </p:txBody>
      </p:sp>
      <p:sp>
        <p:nvSpPr>
          <p:cNvPr id="366" name="Repair and verification"/>
          <p:cNvSpPr txBox="1"/>
          <p:nvPr/>
        </p:nvSpPr>
        <p:spPr>
          <a:xfrm>
            <a:off x="8572500" y="5270500"/>
            <a:ext cx="6858000" cy="444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3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Repair and verification</a:t>
            </a:r>
          </a:p>
        </p:txBody>
      </p:sp>
      <p:sp>
        <p:nvSpPr>
          <p:cNvPr id="367" name="Match the pod label.…"/>
          <p:cNvSpPr txBox="1"/>
          <p:nvPr/>
        </p:nvSpPr>
        <p:spPr>
          <a:xfrm>
            <a:off x="8572500" y="5854700"/>
            <a:ext cx="6858000" cy="1778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Match the pod label.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ready endpoint appears and the Service returns HTTP 200.</a:t>
            </a:r>
          </a:p>
        </p:txBody>
      </p:sp>
    </p:spTree>
  </p:cSld>
  <p:clrMapOvr>
    <a:masterClrMapping/>
  </p:clrMapOvr>
  <p:transition spd="med" advClick="1"/>
</p:sld>
</file>

<file path=ppt/slides/slide15.xml><?xml version="1.0" encoding="utf-8"?>
<p:sld xmlns:a="http://schemas.openxmlformats.org/drawingml/2006/main" xmlns:ma14="http://schemas.microsoft.com/office/mac/drawingml/2011/main" xmlns:p="http://schemas.openxmlformats.org/presentationml/2006/main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M7  RESOURCE LIFECYCLE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M7  RESOURCE LIFECYCLE</a:t>
            </a:r>
          </a:p>
        </p:txBody>
      </p:sp>
      <p:sp>
        <p:nvSpPr>
          <p:cNvPr id="372" name="AWS resource cleanup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AWS resource cleanup</a:t>
            </a:r>
          </a:p>
        </p:txBody>
      </p:sp>
      <p:sp>
        <p:nvSpPr>
          <p:cNvPr id="373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374" name="15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15</a:t>
            </a:r>
          </a:p>
        </p:txBody>
      </p:sp>
      <p:sp>
        <p:nvSpPr>
          <p:cNvPr id="375" name="01"/>
          <p:cNvSpPr txBox="1"/>
          <p:nvPr/>
        </p:nvSpPr>
        <p:spPr>
          <a:xfrm>
            <a:off x="711200" y="2159000"/>
            <a:ext cx="1054100" cy="698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3500">
                <a:solidFill>
                  <a:srgbClr val="808C7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01</a:t>
            </a:r>
          </a:p>
        </p:txBody>
      </p:sp>
      <p:sp>
        <p:nvSpPr>
          <p:cNvPr id="376" name="Disable deployment"/>
          <p:cNvSpPr txBox="1"/>
          <p:nvPr/>
        </p:nvSpPr>
        <p:spPr>
          <a:xfrm>
            <a:off x="1993900" y="2159000"/>
            <a:ext cx="13462000" cy="495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6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Disable deployment</a:t>
            </a:r>
          </a:p>
        </p:txBody>
      </p:sp>
      <p:sp>
        <p:nvSpPr>
          <p:cNvPr id="377" name="Stop automatic releases and revoke the deployment credential."/>
          <p:cNvSpPr txBox="1"/>
          <p:nvPr/>
        </p:nvSpPr>
        <p:spPr>
          <a:xfrm>
            <a:off x="1993900" y="2755900"/>
            <a:ext cx="13335000" cy="635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3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Stop automatic releases and revoke the deployment credential.</a:t>
            </a:r>
          </a:p>
        </p:txBody>
      </p:sp>
      <p:sp>
        <p:nvSpPr>
          <p:cNvPr id="378" name="02"/>
          <p:cNvSpPr txBox="1"/>
          <p:nvPr/>
        </p:nvSpPr>
        <p:spPr>
          <a:xfrm>
            <a:off x="711200" y="3619500"/>
            <a:ext cx="1054100" cy="698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3500">
                <a:solidFill>
                  <a:srgbClr val="808C7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02</a:t>
            </a:r>
          </a:p>
        </p:txBody>
      </p:sp>
      <p:sp>
        <p:nvSpPr>
          <p:cNvPr id="379" name="Remove Kubernetes resources"/>
          <p:cNvSpPr txBox="1"/>
          <p:nvPr/>
        </p:nvSpPr>
        <p:spPr>
          <a:xfrm>
            <a:off x="1993900" y="3619500"/>
            <a:ext cx="13462000" cy="495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6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Remove Kubernetes resources</a:t>
            </a:r>
          </a:p>
        </p:txBody>
      </p:sp>
      <p:sp>
        <p:nvSpPr>
          <p:cNvPr id="380" name="Uninstall releases and remove demo volumes while controllers are running."/>
          <p:cNvSpPr txBox="1"/>
          <p:nvPr/>
        </p:nvSpPr>
        <p:spPr>
          <a:xfrm>
            <a:off x="1993900" y="4216400"/>
            <a:ext cx="13335000" cy="635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3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Uninstall releases and remove demo volumes while controllers are running.</a:t>
            </a:r>
          </a:p>
        </p:txBody>
      </p:sp>
      <p:sp>
        <p:nvSpPr>
          <p:cNvPr id="381" name="03"/>
          <p:cNvSpPr txBox="1"/>
          <p:nvPr/>
        </p:nvSpPr>
        <p:spPr>
          <a:xfrm>
            <a:off x="711200" y="5080000"/>
            <a:ext cx="1054100" cy="698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3500">
                <a:solidFill>
                  <a:srgbClr val="808C7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03</a:t>
            </a:r>
          </a:p>
        </p:txBody>
      </p:sp>
      <p:sp>
        <p:nvSpPr>
          <p:cNvPr id="382" name="Destroy infrastructure"/>
          <p:cNvSpPr txBox="1"/>
          <p:nvPr/>
        </p:nvSpPr>
        <p:spPr>
          <a:xfrm>
            <a:off x="1993900" y="5080000"/>
            <a:ext cx="13462000" cy="495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6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Destroy infrastructure</a:t>
            </a:r>
          </a:p>
        </p:txBody>
      </p:sp>
      <p:sp>
        <p:nvSpPr>
          <p:cNvPr id="383" name="Run terraform destroy and verify AWS resource removal."/>
          <p:cNvSpPr txBox="1"/>
          <p:nvPr/>
        </p:nvSpPr>
        <p:spPr>
          <a:xfrm>
            <a:off x="1993900" y="5676900"/>
            <a:ext cx="13335000" cy="635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3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Run terraform destroy and verify AWS resource removal.</a:t>
            </a:r>
          </a:p>
        </p:txBody>
      </p:sp>
      <p:sp>
        <p:nvSpPr>
          <p:cNvPr id="384" name="04"/>
          <p:cNvSpPr txBox="1"/>
          <p:nvPr/>
        </p:nvSpPr>
        <p:spPr>
          <a:xfrm>
            <a:off x="711200" y="6540500"/>
            <a:ext cx="1054100" cy="698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3500">
                <a:solidFill>
                  <a:srgbClr val="808C7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04</a:t>
            </a:r>
          </a:p>
        </p:txBody>
      </p:sp>
      <p:sp>
        <p:nvSpPr>
          <p:cNvPr id="385" name="Retain the evidence"/>
          <p:cNvSpPr txBox="1"/>
          <p:nvPr/>
        </p:nvSpPr>
        <p:spPr>
          <a:xfrm>
            <a:off x="1993900" y="6540500"/>
            <a:ext cx="13462000" cy="495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6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Retain the evidence</a:t>
            </a:r>
          </a:p>
        </p:txBody>
      </p:sp>
      <p:sp>
        <p:nvSpPr>
          <p:cNvPr id="386" name="Keep the plan, AWS screenshots and destroy completion output."/>
          <p:cNvSpPr txBox="1"/>
          <p:nvPr/>
        </p:nvSpPr>
        <p:spPr>
          <a:xfrm>
            <a:off x="1993900" y="7137400"/>
            <a:ext cx="13335000" cy="635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3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Keep the plan, AWS screenshots and destroy completion output.</a:t>
            </a:r>
          </a:p>
        </p:txBody>
      </p:sp>
    </p:spTree>
  </p:cSld>
  <p:clrMapOvr>
    <a:masterClrMapping/>
  </p:clrMapOvr>
  <p:transition spd="med" advClick="1"/>
</p:sld>
</file>

<file path=ppt/slides/slide16.xml><?xml version="1.0" encoding="utf-8"?>
<p:sld xmlns:a="http://schemas.openxmlformats.org/drawingml/2006/main" xmlns:ma14="http://schemas.microsoft.com/office/mac/drawingml/2011/main" xmlns:p="http://schemas.openxmlformats.org/presentationml/2006/main" showMasterSp="1" showMasterPhAnim="1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M10  PRESENTATION AND DOCUMENTATION"/>
          <p:cNvSpPr txBox="1"/>
          <p:nvPr/>
        </p:nvSpPr>
        <p:spPr>
          <a:xfrm>
            <a:off x="711200" y="368300"/>
            <a:ext cx="13970000" cy="3048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M10  PRESENTATION AND DOCUMENTATION</a:t>
            </a:r>
          </a:p>
        </p:txBody>
      </p:sp>
      <p:sp>
        <p:nvSpPr>
          <p:cNvPr id="391" name="Deployment demonstration"/>
          <p:cNvSpPr txBox="1"/>
          <p:nvPr/>
        </p:nvSpPr>
        <p:spPr>
          <a:xfrm>
            <a:off x="711200" y="863600"/>
            <a:ext cx="14732000" cy="8382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42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Deployment demonstration</a:t>
            </a:r>
          </a:p>
        </p:txBody>
      </p:sp>
      <p:sp>
        <p:nvSpPr>
          <p:cNvPr id="392" name="TEAMDESK"/>
          <p:cNvSpPr txBox="1"/>
          <p:nvPr/>
        </p:nvSpPr>
        <p:spPr>
          <a:xfrm>
            <a:off x="711200" y="8559800"/>
            <a:ext cx="5080000" cy="2921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12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TEAMDESK</a:t>
            </a:r>
          </a:p>
        </p:txBody>
      </p:sp>
      <p:sp>
        <p:nvSpPr>
          <p:cNvPr id="393" name="16"/>
          <p:cNvSpPr txBox="1"/>
          <p:nvPr/>
        </p:nvSpPr>
        <p:spPr>
          <a:xfrm>
            <a:off x="14986000" y="8534400"/>
            <a:ext cx="635000" cy="3175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1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16</a:t>
            </a:r>
          </a:p>
        </p:txBody>
      </p:sp>
      <p:sp>
        <p:nvSpPr>
          <p:cNvPr id="394" name="A change in Git becomes a verified release"/>
          <p:cNvSpPr txBox="1"/>
          <p:nvPr/>
        </p:nvSpPr>
        <p:spPr>
          <a:xfrm>
            <a:off x="711200" y="2286000"/>
            <a:ext cx="14833600" cy="762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3300">
                <a:solidFill>
                  <a:srgbClr val="3561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 change in Git becomes a verified release</a:t>
            </a:r>
          </a:p>
        </p:txBody>
      </p:sp>
      <p:sp>
        <p:nvSpPr>
          <p:cNvPr id="395" name="01"/>
          <p:cNvSpPr txBox="1"/>
          <p:nvPr/>
        </p:nvSpPr>
        <p:spPr>
          <a:xfrm>
            <a:off x="711200" y="3632200"/>
            <a:ext cx="889000" cy="508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01</a:t>
            </a:r>
          </a:p>
        </p:txBody>
      </p:sp>
      <p:sp>
        <p:nvSpPr>
          <p:cNvPr id="396" name="Employee CRUD in the browser"/>
          <p:cNvSpPr txBox="1"/>
          <p:nvPr/>
        </p:nvSpPr>
        <p:spPr>
          <a:xfrm>
            <a:off x="1828800" y="3594100"/>
            <a:ext cx="13589000" cy="622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7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Employee CRUD in the browser</a:t>
            </a:r>
          </a:p>
        </p:txBody>
      </p:sp>
      <p:sp>
        <p:nvSpPr>
          <p:cNvPr id="397" name="02"/>
          <p:cNvSpPr txBox="1"/>
          <p:nvPr/>
        </p:nvSpPr>
        <p:spPr>
          <a:xfrm>
            <a:off x="711200" y="4483100"/>
            <a:ext cx="889000" cy="508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02</a:t>
            </a:r>
          </a:p>
        </p:txBody>
      </p:sp>
      <p:sp>
        <p:nvSpPr>
          <p:cNvPr id="398" name="A commit and the GitHub Actions run"/>
          <p:cNvSpPr txBox="1"/>
          <p:nvPr/>
        </p:nvSpPr>
        <p:spPr>
          <a:xfrm>
            <a:off x="1828800" y="4445000"/>
            <a:ext cx="13589000" cy="622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7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A commit and the GitHub Actions run</a:t>
            </a:r>
          </a:p>
        </p:txBody>
      </p:sp>
      <p:sp>
        <p:nvSpPr>
          <p:cNvPr id="399" name="03"/>
          <p:cNvSpPr txBox="1"/>
          <p:nvPr/>
        </p:nvSpPr>
        <p:spPr>
          <a:xfrm>
            <a:off x="711200" y="5334000"/>
            <a:ext cx="889000" cy="508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03</a:t>
            </a:r>
          </a:p>
        </p:txBody>
      </p:sp>
      <p:sp>
        <p:nvSpPr>
          <p:cNvPr id="400" name="The updated application and matching release SHA"/>
          <p:cNvSpPr txBox="1"/>
          <p:nvPr/>
        </p:nvSpPr>
        <p:spPr>
          <a:xfrm>
            <a:off x="1828800" y="5295900"/>
            <a:ext cx="13589000" cy="622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7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The updated application and matching release SHA</a:t>
            </a:r>
          </a:p>
        </p:txBody>
      </p:sp>
      <p:sp>
        <p:nvSpPr>
          <p:cNvPr id="401" name="04"/>
          <p:cNvSpPr txBox="1"/>
          <p:nvPr/>
        </p:nvSpPr>
        <p:spPr>
          <a:xfrm>
            <a:off x="711200" y="6184900"/>
            <a:ext cx="889000" cy="508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400">
                <a:solidFill>
                  <a:srgbClr val="808C7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04</a:t>
            </a:r>
          </a:p>
        </p:txBody>
      </p:sp>
      <p:sp>
        <p:nvSpPr>
          <p:cNvPr id="402" name="Prometheus targets and the Grafana dashboard"/>
          <p:cNvSpPr txBox="1"/>
          <p:nvPr/>
        </p:nvSpPr>
        <p:spPr>
          <a:xfrm>
            <a:off x="1828800" y="6146800"/>
            <a:ext cx="13589000" cy="6223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sz="2700">
                <a:solidFill>
                  <a:srgbClr val="404C4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Prometheus targets and the Grafana dashboard</a:t>
            </a:r>
          </a:p>
        </p:txBody>
      </p:sp>
      <p:sp>
        <p:nvSpPr>
          <p:cNvPr id="403" name="github.com/suhaniawasthi10/TeamDesk-"/>
          <p:cNvSpPr txBox="1"/>
          <p:nvPr/>
        </p:nvSpPr>
        <p:spPr>
          <a:xfrm>
            <a:off x="711200" y="7569200"/>
            <a:ext cx="14732000" cy="5080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val="1"/>
            </a:ext>
          </a:extLst>
        </p:spPr>
        <p:txBody>
          <a:bodyPr lIns="0" tIns="0" rIns="0" bIns="0" anchor="t" wrap="square"/>
          <a:lstStyle>
            <a:lvl1pPr>
              <a:defRPr b="1" sz="2500">
                <a:solidFill>
                  <a:srgbClr val="3561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t>github.com/suhaniawasthi10/TeamDesk-</a:t>
            </a:r>
          </a:p>
        </p:txBody>
      </p:sp>
    </p:spTree>
  </p:cSld>
  <p:clrMapOvr>
    <a:masterClrMapping/>
  </p:clrMapOvr>
  <p:transition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l" defTabSz="1625559" rtl="0" fontAlgn="auto" latinLnBrk="0" hangingPunct="0">
          <a:lnSpc>
            <a:spcPct val="9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l" defTabSz="1625559" rtl="0" fontAlgn="auto" latinLnBrk="0" hangingPunct="0">
          <a:lnSpc>
            <a:spcPct val="9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